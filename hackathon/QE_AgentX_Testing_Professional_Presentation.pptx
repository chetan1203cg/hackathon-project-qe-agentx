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7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4572000" cy="5760720"/>
          </a:xfrm>
          <a:prstGeom prst="rect">
            <a:avLst/>
          </a:prstGeom>
          <a:solidFill>
            <a:srgbClr val="DC3445"/>
          </a:solidFill>
          <a:ln>
            <a:solidFill>
              <a:srgbClr val="DC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3200" b="1" i="0">
                <a:solidFill>
                  <a:srgbClr val="FFFFFF"/>
                </a:solidFill>
              </a:defRPr>
            </a:pPr>
            <a: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5600" b="1" i="0">
                <a:solidFill>
                  <a:srgbClr val="FFFFFF"/>
                </a:solidFill>
              </a:defRPr>
            </a:pPr>
            <a:r>
              <a:t>120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 b="0" i="0">
                <a:solidFill>
                  <a:srgbClr val="FFFFFF"/>
                </a:solidFill>
              </a:defRPr>
            </a:pPr>
            <a:r>
              <a:t>per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</a:defRPr>
            </a:pPr>
            <a:r>
              <a:t>Manual Test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97280"/>
            <a:ext cx="4572000" cy="5760720"/>
          </a:xfrm>
          <a:prstGeom prst="rect">
            <a:avLst/>
          </a:prstGeom>
          <a:solidFill>
            <a:srgbClr val="00C853"/>
          </a:solidFill>
          <a:ln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3200" b="1" i="0">
                <a:solidFill>
                  <a:srgbClr val="FFFFFF"/>
                </a:solidFill>
              </a:defRPr>
            </a:pPr>
            <a: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743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5600" b="1" i="0">
                <a:solidFill>
                  <a:srgbClr val="FFFFFF"/>
                </a:solidFill>
              </a:defRPr>
            </a:pPr>
            <a:r>
              <a:t>2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4747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 b="0" i="0">
                <a:solidFill>
                  <a:srgbClr val="FFFFFF"/>
                </a:solidFill>
              </a:defRPr>
            </a:pPr>
            <a:r>
              <a:t>per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7548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</a:defRPr>
            </a:pPr>
            <a:r>
              <a:t>AI-Powered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</a:defRPr>
            </a:pPr>
            <a:r>
              <a:t>Test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17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800" b="1" i="1">
                <a:solidFill>
                  <a:srgbClr val="FFFFFF"/>
                </a:solidFill>
              </a:defRPr>
            </a:pPr>
            <a:r>
              <a:t>What if every tester had an AI Quality Architect working 24x7?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QE AgentX: Agentic Test Design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3445"/>
          </a:solidFill>
          <a:ln>
            <a:solidFill>
              <a:srgbClr val="DC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The Testing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</a:defRPr>
            </a:pPr>
            <a:r>
              <a:t>⏱️  40-60% of QA sprint capacity wasted on manual test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</a:defRPr>
            </a:pPr>
            <a:r>
              <a:t>🔄 Inconsistent test coverage (averaging 70% vs. 90% 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</a:defRPr>
            </a:pPr>
            <a:r>
              <a:t>🔗 Poor traceability (40% of test cases lack RTM linkage)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</a:defRPr>
            </a:pPr>
            <a:r>
              <a:t>⚠️  High rework costs due to spec changes &amp; duplicate effort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1A1A1A"/>
                </a:solidFill>
              </a:defRPr>
            </a:pPr>
            <a:r>
              <a:t>📊 $450K annual cost for 10-person QA team on design alone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1">
                <a:solidFill>
                  <a:srgbClr val="FFFFFF"/>
                </a:solidFill>
              </a:defRPr>
            </a:pPr>
            <a:r>
              <a:t>🎯 Executive Insight: Testing teams are constrained by manual processes, not by capability. They could deploy 2.5x faster with AI assistance.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2: The Problem — Manual Test Design Bottleneck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3445"/>
          </a:solidFill>
          <a:ln>
            <a:solidFill>
              <a:srgbClr val="DC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Impact of Manual Test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solidFill>
            <a:srgbClr val="DC3445"/>
          </a:solidFill>
          <a:ln>
            <a:solidFill>
              <a:srgbClr val="DC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$450K</a:t>
            </a:r>
          </a:p>
          <a:p>
            <a:pPr algn="ctr"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Annual QA</a:t>
            </a:r>
            <a:br/>
            <a:r>
              <a:t>Design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1828800" cy="109728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40-60%</a:t>
            </a:r>
          </a:p>
          <a:p>
            <a:pPr algn="ctr"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Capacity</a:t>
            </a:r>
            <a:br/>
            <a:r>
              <a:t>Wasted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371600"/>
            <a:ext cx="1828800" cy="1097280"/>
          </a:xfrm>
          <a:prstGeom prst="rect">
            <a:avLst/>
          </a:prstGeom>
          <a:solidFill>
            <a:srgbClr val="DC3445"/>
          </a:solidFill>
          <a:ln>
            <a:solidFill>
              <a:srgbClr val="DC3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70%</a:t>
            </a:r>
          </a:p>
          <a:p>
            <a:pPr algn="ctr"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Average</a:t>
            </a:r>
            <a:br/>
            <a: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800" b="1" i="0">
                <a:solidFill>
                  <a:srgbClr val="0B47A4"/>
                </a:solidFill>
              </a:defRPr>
            </a:pPr>
            <a:r>
              <a:t>Operational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0" i="0">
                <a:solidFill>
                  <a:srgbClr val="1A1A1A"/>
                </a:solidFill>
              </a:defRPr>
            </a:pPr>
            <a:r>
              <a:t>• Delayed time-to-market: Features held up by QA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0" i="0">
                <a:solidFill>
                  <a:srgbClr val="1A1A1A"/>
                </a:solidFill>
              </a:defRPr>
            </a:pPr>
            <a:r>
              <a:t>• Quality inconsistency: Coverage varies by team 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0" i="0">
                <a:solidFill>
                  <a:srgbClr val="1A1A1A"/>
                </a:solidFill>
              </a:defRPr>
            </a:pPr>
            <a:r>
              <a:t>• Compliance risk: Incomplete RTM traceability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0" i="0">
                <a:solidFill>
                  <a:srgbClr val="1A1A1A"/>
                </a:solidFill>
              </a:defRPr>
            </a:pPr>
            <a:r>
              <a:t>• Talent attrition: QEs frustrated with repetitive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3: Current State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Introducing QE AgentX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 b="1" i="0">
                <a:solidFill>
                  <a:srgbClr val="00BFA5"/>
                </a:solidFill>
              </a:defRPr>
            </a:pPr>
            <a:r>
              <a:t>The AI Quality Architect for Modern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1">
                <a:solidFill>
                  <a:srgbClr val="1A1A1A"/>
                </a:solidFill>
              </a:defRPr>
            </a:pPr>
            <a:r>
              <a:t>Transforms Jira stories into production-ready test suites in &lt;90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1" i="0">
                <a:solidFill>
                  <a:srgbClr val="00BFA5"/>
                </a:solidFill>
              </a:defRPr>
            </a:pPr>
            <a:r>
              <a:t>🤖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8 specialized agents orchestrated for optimal test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1" i="0">
                <a:solidFill>
                  <a:srgbClr val="00BFA5"/>
                </a:solidFill>
              </a:defRPr>
            </a:pPr>
            <a:r>
              <a:t>✅ HITL 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Human-in-the-loop gates ensure quality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1" i="0">
                <a:solidFill>
                  <a:srgbClr val="00BFA5"/>
                </a:solidFill>
              </a:defRPr>
            </a:pPr>
            <a:r>
              <a:t>🔗 Fully Traceable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200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100% requirement-to-test linkage with RTM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1" i="1">
                <a:solidFill>
                  <a:srgbClr val="FFFFFF"/>
                </a:solidFill>
              </a:defRPr>
            </a:pPr>
            <a:r>
              <a:t>🚀 WOW MOMENT #1: QE AgentX is not just faster—it's smarter. It achieves 90%+ coverage vs. traditional 70%, with zero rework.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4: Solution 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E35B1"/>
          </a:solidFill>
          <a:ln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The Agentic AI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0">
                <a:solidFill>
                  <a:srgbClr val="1A1A1A"/>
                </a:solidFill>
              </a:defRPr>
            </a:pPr>
            <a:r>
              <a:t>Jira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005840" cy="548640"/>
          </a:xfrm>
          <a:prstGeom prst="rect">
            <a:avLst/>
          </a:prstGeom>
          <a:solidFill>
            <a:srgbClr val="0B47A4"/>
          </a:solidFill>
          <a:ln>
            <a:solidFill>
              <a:srgbClr val="0B4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REQ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Parse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103120"/>
            <a:ext cx="1005840" cy="54864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SCN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231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Build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Scenarios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103120"/>
            <a:ext cx="1005840" cy="548640"/>
          </a:xfrm>
          <a:prstGeom prst="rect">
            <a:avLst/>
          </a:prstGeom>
          <a:solidFill>
            <a:srgbClr val="0B47A4"/>
          </a:solidFill>
          <a:ln>
            <a:solidFill>
              <a:srgbClr val="0B4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4231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Generate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79" y="2103120"/>
            <a:ext cx="1005840" cy="54864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24231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Synthesize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Test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103120"/>
            <a:ext cx="1005840" cy="548640"/>
          </a:xfrm>
          <a:prstGeom prst="rect">
            <a:avLst/>
          </a:prstGeom>
          <a:solidFill>
            <a:srgbClr val="00C853"/>
          </a:solidFill>
          <a:ln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COV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4231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Verify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2103120"/>
            <a:ext cx="1005840" cy="548640"/>
          </a:xfrm>
          <a:prstGeom prst="rect">
            <a:avLst/>
          </a:prstGeom>
          <a:solidFill>
            <a:srgbClr val="5E35B1"/>
          </a:solidFill>
          <a:ln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RTM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4231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Build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Traceability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103120"/>
            <a:ext cx="1005840" cy="548640"/>
          </a:xfrm>
          <a:prstGeom prst="rect">
            <a:avLst/>
          </a:prstGeom>
          <a:solidFill>
            <a:srgbClr val="00C853"/>
          </a:solidFill>
          <a:ln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REV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4231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Quality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2103120"/>
            <a:ext cx="1005840" cy="548640"/>
          </a:xfrm>
          <a:prstGeom prst="rect">
            <a:avLst/>
          </a:prstGeom>
          <a:solidFill>
            <a:srgbClr val="5E35B1"/>
          </a:solidFill>
          <a:ln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RPT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4231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Generate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900" b="0" i="0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0">
                <a:solidFill>
                  <a:srgbClr val="1A1A1A"/>
                </a:solidFill>
              </a:defRPr>
            </a:pPr>
            <a:r>
              <a:t>Time: &lt;2 minutes end-to-end (90 seconds in demo mode)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1" i="0">
                <a:solidFill>
                  <a:srgbClr val="5E35B1"/>
                </a:solidFill>
              </a:defRPr>
            </a:pPr>
            <a:r>
              <a:t>✨ Output Delivered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7+ comprehensive test cases (BDD Gherkin format)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976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5 test datasets (valid, boundary, invalid scenarios)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548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100% requirement-to-test traceability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120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86% average coverage (vs. 70% manual baseline)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Multi-format export: Markdown, Xray JSON, 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5: 8-Agent Agentic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End-to-End Transformation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645920" cy="731520"/>
          </a:xfrm>
          <a:prstGeom prst="rect">
            <a:avLst/>
          </a:prstGeom>
          <a:solidFill>
            <a:srgbClr val="0B47A4"/>
          </a:solidFill>
          <a:ln>
            <a:solidFill>
              <a:srgbClr val="0B4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Jira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 b="0" i="0">
                <a:solidFill>
                  <a:srgbClr val="1A1A1A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828800"/>
            <a:ext cx="1645920" cy="73152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User Story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Parsed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 b="0" i="0">
                <a:solidFill>
                  <a:srgbClr val="1A1A1A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1645920" cy="731520"/>
          </a:xfrm>
          <a:prstGeom prst="rect">
            <a:avLst/>
          </a:prstGeom>
          <a:solidFill>
            <a:srgbClr val="0B47A4"/>
          </a:solidFill>
          <a:ln>
            <a:solidFill>
              <a:srgbClr val="0B4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Test Design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 b="0" i="0">
                <a:solidFill>
                  <a:srgbClr val="1A1A1A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828800"/>
            <a:ext cx="1645920" cy="73152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Assets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1" i="0">
                <a:solidFill>
                  <a:srgbClr val="FFFFFF"/>
                </a:solidFill>
              </a:defRPr>
            </a:pPr>
            <a:r>
              <a:t>Produced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0">
                <a:solidFill>
                  <a:srgbClr val="DC3445"/>
                </a:solidFill>
              </a:defRPr>
            </a:pPr>
            <a:r>
              <a:t>🔒 Human-in-the-Loop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Gate 1: Requirement Validation (Is the AC correctly parsed?)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Gate 2: Quality Review (Does coverage meet standards?)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0">
                <a:solidFill>
                  <a:srgbClr val="5E35B1"/>
                </a:solidFill>
              </a:defRPr>
            </a:pPr>
            <a:r>
              <a:t>🎯 Key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✓ Maintains human control—no blind AI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✓ Enforces compliance—audit trails preserved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✓ Enables continuous improvement—learning feedback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6: Workflow &amp; HITL Gates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E35B1"/>
          </a:solidFill>
          <a:ln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Strategic Enterprise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7: ODE Strategic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0" i="1">
                <a:solidFill>
                  <a:srgbClr val="5E35B1"/>
                </a:solidFill>
              </a:defRPr>
            </a:pPr>
            <a:r>
              <a:t>How QE AgentX Drives Organizational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0B47A4"/>
                </a:solidFill>
              </a:defRPr>
            </a:pPr>
            <a:r>
              <a:t>⚡ Operational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Eliminate repetitive manual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Reduce defect escape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Improve sprint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0B47A4"/>
                </a:solidFill>
              </a:defRPr>
            </a:pPr>
            <a:r>
              <a:t>🎯 Digital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Embed AI into QE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Future-proof testing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Scale without headcount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0B47A4"/>
                </a:solidFill>
              </a:defRPr>
            </a:pPr>
            <a:r>
              <a:t>🚀 Accelerated Time-to-Market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Deploy 2.5x faster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Reduce time-to-quality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Beat competition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5E35B1"/>
          </a:solidFill>
          <a:ln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1">
                <a:solidFill>
                  <a:srgbClr val="FFFFFF"/>
                </a:solidFill>
              </a:defRPr>
            </a:pPr>
            <a:r>
              <a:t>📊 Strategic Outcome: QE AgentX transforms testing from a cost center into a competitive differentiator.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7: ODE Strategic Alignment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C853"/>
          </a:solidFill>
          <a:ln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The Power of Reusability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0" i="1">
                <a:solidFill>
                  <a:srgbClr val="00C853"/>
                </a:solidFill>
              </a:defRPr>
            </a:pPr>
            <a:r>
              <a:t>Analogy: QE AgentX is like LEGO for test design—build once, reuse infinitely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560320" cy="1371600"/>
          </a:xfrm>
          <a:prstGeom prst="rect">
            <a:avLst/>
          </a:prstGeom>
          <a:solidFill>
            <a:srgbClr val="00C853"/>
          </a:solidFill>
          <a:ln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1" i="0">
                <a:solidFill>
                  <a:srgbClr val="FFFFFF"/>
                </a:solidFill>
              </a:defRPr>
            </a:pPr>
            <a:r>
              <a:t>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FFFFFF"/>
                </a:solidFill>
              </a:defRPr>
            </a:pPr>
            <a:r>
              <a:t>1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FFFFFF"/>
                </a:solidFill>
              </a:defRPr>
            </a:pPr>
            <a:r>
              <a:t>60× speedup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FFFFFF"/>
                </a:solidFill>
              </a:defRPr>
            </a:pPr>
            <a:r>
              <a:t>Pattern library 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03120"/>
            <a:ext cx="2560320" cy="137160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1" i="0">
                <a:solidFill>
                  <a:srgbClr val="FFFFFF"/>
                </a:solidFill>
              </a:defRPr>
            </a:pPr>
            <a:r>
              <a:t>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FFFFFF"/>
                </a:solidFill>
              </a:defRPr>
            </a:pPr>
            <a:r>
              <a:t>3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FFFFFF"/>
                </a:solidFill>
              </a:defRPr>
            </a:pPr>
            <a:r>
              <a:t>75× speedup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FFFFFF"/>
                </a:solidFill>
              </a:defRPr>
            </a:pPr>
            <a:r>
              <a:t>100+ patterns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03120"/>
            <a:ext cx="2560320" cy="1371600"/>
          </a:xfrm>
          <a:prstGeom prst="rect">
            <a:avLst/>
          </a:prstGeom>
          <a:solidFill>
            <a:srgbClr val="0B47A4"/>
          </a:solidFill>
          <a:ln>
            <a:solidFill>
              <a:srgbClr val="0B4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1" i="0">
                <a:solidFill>
                  <a:srgbClr val="FFFFFF"/>
                </a:solidFill>
              </a:defRPr>
            </a:pPr>
            <a:r>
              <a:t>Year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FFFFFF"/>
                </a:solidFill>
              </a:defRPr>
            </a:pPr>
            <a:r>
              <a:t>8+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FFFFFF"/>
                </a:solidFill>
              </a:defRPr>
            </a:pPr>
            <a:r>
              <a:t>85% reuse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FFFFFF"/>
                </a:solidFill>
              </a:defRPr>
            </a:pPr>
            <a:r>
              <a:t>Pattern maturity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0">
                <a:solidFill>
                  <a:srgbClr val="00C853"/>
                </a:solidFill>
              </a:defRPr>
            </a:pPr>
            <a:r>
              <a:t>🔄 Reusability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✓ Test scenarios accumulate—build test libraries per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59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✓ Onboarding accelerates—new teams achieve 60× speedup immediately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79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✓ Consistency improves—shared patterns enforce standards enterprise-wide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8: Reusability &amp; Pattern Leverage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C853"/>
          </a:solidFill>
          <a:ln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Quantified Client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560320" cy="1645920"/>
          </a:xfrm>
          <a:prstGeom prst="rect">
            <a:avLst/>
          </a:prstGeom>
          <a:solidFill>
            <a:srgbClr val="00C853"/>
          </a:solidFill>
          <a:ln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3800" b="1" i="0">
                <a:solidFill>
                  <a:srgbClr val="FFFFFF"/>
                </a:solidFill>
              </a:defRPr>
            </a:pPr>
            <a:r>
              <a:t>60×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Faster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120 min → 2 min per 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560320" cy="164592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3800" b="1" i="0">
                <a:solidFill>
                  <a:srgbClr val="FFFFFF"/>
                </a:solidFill>
              </a:defRPr>
            </a:pPr>
            <a:r>
              <a:t>90%+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Coverage Achievement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vs. 70% manual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71600"/>
            <a:ext cx="2560320" cy="1645920"/>
          </a:xfrm>
          <a:prstGeom prst="rect">
            <a:avLst/>
          </a:prstGeom>
          <a:solidFill>
            <a:srgbClr val="0B47A4"/>
          </a:solidFill>
          <a:ln>
            <a:solidFill>
              <a:srgbClr val="0B4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3800" b="1" i="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Traceability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Story → AC → TC →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0">
                <a:solidFill>
                  <a:srgbClr val="00C853"/>
                </a:solidFill>
              </a:defRPr>
            </a:pPr>
            <a:r>
              <a:t>💰 Financial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1" i="0">
                <a:solidFill>
                  <a:srgbClr val="00C853"/>
                </a:solidFill>
              </a:defRPr>
            </a:pPr>
            <a:r>
              <a:t>$360K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749039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Annual savings (10-person team, 80% automation) (Design labor reduction)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1" i="0">
                <a:solidFill>
                  <a:srgbClr val="00C853"/>
                </a:solidFill>
              </a:defRPr>
            </a:pPr>
            <a:r>
              <a:t>$210K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4348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Net Year 1 savings (after development cost) (ROI: 3:1)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1" i="0">
                <a:solidFill>
                  <a:srgbClr val="00C853"/>
                </a:solidFill>
              </a:defRPr>
            </a:pPr>
            <a:r>
              <a:t>1.4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1206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1A1A1A"/>
                </a:solidFill>
              </a:defRPr>
            </a:pPr>
            <a:r>
              <a:t>Payback period (Full ROI achieved)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9: Client Benefits &amp; Financial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Business Outcomes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solidFill>
            <a:srgbClr val="00C853"/>
          </a:solidFill>
          <a:ln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60×</a:t>
            </a:r>
          </a:p>
          <a:p>
            <a:pPr algn="ctr"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Faster</a:t>
            </a:r>
            <a:br/>
            <a:r>
              <a:t>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0" y="1371600"/>
            <a:ext cx="1828800" cy="109728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90%+</a:t>
            </a:r>
          </a:p>
          <a:p>
            <a:pPr algn="ctr"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Coverage</a:t>
            </a:r>
            <a:br/>
            <a:r>
              <a:t>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1371600"/>
            <a:ext cx="1828800" cy="109728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$360K</a:t>
            </a:r>
          </a:p>
          <a:p>
            <a:pPr algn="ctr"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Annual</a:t>
            </a:r>
            <a:br/>
            <a:r>
              <a:t>Savings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371600"/>
            <a:ext cx="1828800" cy="1097280"/>
          </a:xfrm>
          <a:prstGeom prst="rect">
            <a:avLst/>
          </a:prstGeom>
          <a:solidFill>
            <a:srgbClr val="5E35B1"/>
          </a:solidFill>
          <a:ln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1.4 yrs</a:t>
            </a:r>
          </a:p>
          <a:p>
            <a:pPr algn="ctr">
              <a:spcBef>
                <a:spcPts val="200"/>
              </a:spcBef>
              <a:defRPr sz="1200">
                <a:solidFill>
                  <a:srgbClr val="FFFFFF"/>
                </a:solidFill>
              </a:defRPr>
            </a:pPr>
            <a:r>
              <a:t>Payback</a:t>
            </a:r>
            <a:br/>
            <a:r>
              <a:t>Period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0">
                <a:solidFill>
                  <a:srgbClr val="FF6F00"/>
                </a:solidFill>
              </a:defRPr>
            </a:pPr>
            <a:r>
              <a:t>Strategic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🎯 Delivery: Deploy features 2.5× faster; compress sprint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⚠️  Quality: Achieve 90%+ coverage vs. 70% industry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💼 Efficiency: Redeploy 40% of QA capacity to strategic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0" i="0">
                <a:solidFill>
                  <a:srgbClr val="1A1A1A"/>
                </a:solidFill>
              </a:defRPr>
            </a:pPr>
            <a:r>
              <a:t>🔐 Compliance: Maintain 100% traceability for regulated industries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669280"/>
            <a:ext cx="8229600" cy="82296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1" i="1">
                <a:solidFill>
                  <a:srgbClr val="FFFFFF"/>
                </a:solidFill>
              </a:defRPr>
            </a:pPr>
            <a:r>
              <a:t>🎯 WOW MOMENT #3: QE AgentX doesn't just automate testing—it transforms QE from a cost center to a competitive advantage.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10: Business 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35B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4000" b="1" i="0">
                <a:solidFill>
                  <a:srgbClr val="FFFFFF"/>
                </a:solidFill>
              </a:defRPr>
            </a:pPr>
            <a:r>
              <a:t>The Future of Quality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 b="0" i="1">
                <a:solidFill>
                  <a:srgbClr val="00BFA5"/>
                </a:solidFill>
              </a:defRPr>
            </a:pPr>
            <a:r>
              <a:t>AI-Powered Autonomous Quality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6F00"/>
                </a:solidFill>
              </a:defRPr>
            </a:pPr>
            <a:r>
              <a:t>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QE AgentX Gen1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1">
                <a:solidFill>
                  <a:srgbClr val="FFFFFF"/>
                </a:solidFill>
              </a:defRPr>
            </a:pPr>
            <a:r>
              <a:t>Test design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6F00"/>
                </a:solidFill>
              </a:defRPr>
            </a:pPr>
            <a: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QE AgentX Gen2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1">
                <a:solidFill>
                  <a:srgbClr val="FFFFFF"/>
                </a:solidFill>
              </a:defRPr>
            </a:pPr>
            <a:r>
              <a:t>Test execution +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6F00"/>
                </a:solidFill>
              </a:defRPr>
            </a:pPr>
            <a: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QE AgentX Gen3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1">
                <a:solidFill>
                  <a:srgbClr val="FFFFFF"/>
                </a:solidFill>
              </a:defRPr>
            </a:pPr>
            <a:r>
              <a:t>Full autonomous QE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0" i="1">
                <a:solidFill>
                  <a:srgbClr val="FFFFFF"/>
                </a:solidFill>
              </a:defRPr>
            </a:pPr>
            <a:r>
              <a:t>Imagine: Test suites that evolve with your application. Coverage that adapts to risk. Quality metrics that predict defects before release.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11: Future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47A4"/>
          </a:solidFill>
          <a:ln>
            <a:solidFill>
              <a:srgbClr val="0B4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rIns="365760" tIns="13716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Let's Transform Quality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737360" cy="1280160"/>
          </a:xfrm>
          <a:prstGeom prst="rect">
            <a:avLst/>
          </a:prstGeom>
          <a:solidFill>
            <a:srgbClr val="0B47A4"/>
          </a:solidFill>
          <a:ln>
            <a:solidFill>
              <a:srgbClr val="0B4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90 days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1 product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63040"/>
            <a:ext cx="1737360" cy="1280160"/>
          </a:xfrm>
          <a:prstGeom prst="rect">
            <a:avLst/>
          </a:prstGeom>
          <a:solidFill>
            <a:srgbClr val="00BFA5"/>
          </a:solidFill>
          <a:ln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65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3 months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Prove ROI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463040"/>
            <a:ext cx="1737360" cy="1280160"/>
          </a:xfrm>
          <a:prstGeom prst="rect">
            <a:avLst/>
          </a:prstGeom>
          <a:solidFill>
            <a:srgbClr val="00C853"/>
          </a:solidFill>
          <a:ln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6 months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3+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463040"/>
            <a:ext cx="1737360" cy="128016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200" b="1" i="0">
                <a:solidFill>
                  <a:srgbClr val="FFFFFF"/>
                </a:solidFill>
              </a:defRPr>
            </a:pPr>
            <a:r>
              <a:t>Harvest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Ongoing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000" b="0" i="0">
                <a:solidFill>
                  <a:srgbClr val="FFFFFF"/>
                </a:solidFill>
              </a:defRPr>
            </a:pPr>
            <a:r>
              <a:t>Full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200400"/>
            <a:ext cx="7315200" cy="2103120"/>
          </a:xfrm>
          <a:prstGeom prst="rect">
            <a:avLst/>
          </a:prstGeom>
          <a:solidFill>
            <a:srgbClr val="0B47A4"/>
          </a:solidFill>
          <a:ln>
            <a:solidFill>
              <a:srgbClr val="0B4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200" b="1" i="0">
                <a:solidFill>
                  <a:srgbClr val="FFFFFF"/>
                </a:solidFill>
              </a:defRPr>
            </a:pPr>
            <a:r>
              <a:t>Ready for a 90-Day Pilot?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39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300" b="0" i="1">
                <a:solidFill>
                  <a:srgbClr val="FFFFFF"/>
                </a:solidFill>
              </a:defRPr>
            </a:pPr>
            <a:r>
              <a:t>Demonstrate 60× speedup on your product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605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FFFFFF"/>
                </a:solidFill>
              </a:defRPr>
            </a:pPr>
            <a:r>
              <a:t>✓ No infrastructure setup required (runs in sandbox mode)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FFFFFF"/>
                </a:solidFill>
              </a:defRPr>
            </a:pPr>
            <a:r>
              <a:t>✓ Measure against your current baseline (120 min/story)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100" b="0" i="0">
                <a:solidFill>
                  <a:srgbClr val="FFFFFF"/>
                </a:solidFill>
              </a:defRPr>
            </a:pPr>
            <a:r>
              <a:t>✓ Deploy to production with confidence (HITL gates included)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400" b="1" i="1">
                <a:solidFill>
                  <a:srgbClr val="5E35B1"/>
                </a:solidFill>
              </a:defRPr>
            </a:pPr>
            <a:r>
              <a:t>The future of testing is here. The question is: Are you ready to lead it?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</a:defRPr>
            </a:pPr>
            <a:r>
              <a:t>Slide 12: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