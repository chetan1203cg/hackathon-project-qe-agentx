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DC3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00B3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5F5F5"/>
                </a:solidFill>
              </a:defRPr>
            </a:pPr>
            <a: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</a:defRPr>
            </a:pPr>
            <a:r>
              <a:t>120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FFC8C8"/>
                </a:solidFill>
              </a:defRPr>
            </a:pPr>
            <a:r>
              <a:t>per test suite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28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5F5F5"/>
                </a:solidFill>
              </a:defRPr>
            </a:pPr>
            <a:r>
              <a:t>WITH QE AGENTX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4688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</a:defRPr>
            </a:pPr>
            <a:r>
              <a:t>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931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C8FFC8"/>
                </a:solidFill>
              </a:defRPr>
            </a:pPr>
            <a:r>
              <a:t>same quality, full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</a:defRPr>
            </a:pPr>
            <a:r>
              <a:t>What if testing took minutes instead of weeks?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Hidden Cost: $450K/Year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DC3545"/>
                </a:solidFill>
              </a:defRPr>
            </a:pPr>
            <a:r>
              <a:t>QA teams spend 40-60% of their time on manual test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237744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DC3545"/>
                </a:solidFill>
              </a:defRPr>
            </a:pPr>
            <a:r>
              <a:t>40-60%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Design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Repetitive manual effort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011680"/>
            <a:ext cx="237744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DC3545"/>
                </a:solidFill>
              </a:defRPr>
            </a:pPr>
            <a:r>
              <a:t>$450K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Annual 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Per 10-person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011680"/>
            <a:ext cx="2377440" cy="1828800"/>
          </a:xfrm>
          <a:prstGeom prst="rect">
            <a:avLst/>
          </a:prstGeom>
          <a:solidFill>
            <a:srgbClr val="F8F9FA"/>
          </a:solidFill>
          <a:ln w="381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286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DC3545"/>
                </a:solidFill>
              </a:defRPr>
            </a:pPr>
            <a:r>
              <a:t>120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Per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337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Before features 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B3FA0"/>
                </a:solidFill>
              </a:defRPr>
            </a:pPr>
            <a:r>
              <a:t>While teams design tests, features block and releases slip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Why Traditional Tools Fall Short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2560320" cy="1645920"/>
          </a:xfrm>
          <a:prstGeom prst="rect">
            <a:avLst/>
          </a:prstGeom>
          <a:solidFill>
            <a:srgbClr val="FF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Automation</a:t>
            </a:r>
          </a:p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DC3545"/>
                </a:solidFill>
              </a:defRPr>
            </a:pPr>
            <a:r>
              <a:t>✗ No Design</a:t>
            </a:r>
          </a:p>
          <a:p>
            <a:pPr algn="ctr">
              <a:defRPr sz="1200" b="0" i="0">
                <a:solidFill>
                  <a:srgbClr val="DC3545"/>
                </a:solidFill>
              </a:defRPr>
            </a:pPr>
            <a:r>
              <a:t>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371600"/>
            <a:ext cx="2560320" cy="1645920"/>
          </a:xfrm>
          <a:prstGeom prst="rect">
            <a:avLst/>
          </a:prstGeom>
          <a:solidFill>
            <a:srgbClr val="FF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Generic</a:t>
            </a:r>
          </a:p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DC3545"/>
                </a:solidFill>
              </a:defRPr>
            </a:pPr>
            <a:r>
              <a:t>✗ No QA</a:t>
            </a:r>
          </a:p>
          <a:p>
            <a:pPr algn="ctr">
              <a:defRPr sz="1200" b="0" i="0">
                <a:solidFill>
                  <a:srgbClr val="DC3545"/>
                </a:solidFill>
              </a:defRPr>
            </a:pPr>
            <a:r>
              <a:t>Expertise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371600"/>
            <a:ext cx="2560320" cy="1645920"/>
          </a:xfrm>
          <a:prstGeom prst="rect">
            <a:avLst/>
          </a:prstGeom>
          <a:solidFill>
            <a:srgbClr val="FFF0F0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Manual</a:t>
            </a:r>
          </a:p>
          <a:p>
            <a:pPr algn="ctr">
              <a:defRPr sz="1400" b="1" i="0">
                <a:solidFill>
                  <a:srgbClr val="333333"/>
                </a:solidFill>
              </a:defRPr>
            </a:pPr>
            <a: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DC3545"/>
                </a:solidFill>
              </a:defRPr>
            </a:pPr>
            <a:r>
              <a:t>✗ Slow &amp;</a:t>
            </a:r>
          </a:p>
          <a:p>
            <a:pPr algn="ctr">
              <a:defRPr sz="1200" b="0" i="0">
                <a:solidFill>
                  <a:srgbClr val="DC3545"/>
                </a:solidFill>
              </a:defRPr>
            </a:pPr>
            <a:r>
              <a:t>Expensive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66CC"/>
                </a:solidFill>
              </a:defRPr>
            </a:pPr>
            <a:r>
              <a:t>What's Actually Needed: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348"/>
                </a:solidFill>
              </a:defRPr>
            </a:pPr>
            <a:r>
              <a:t>✓ QA Domain Expertise (understand testing strategy)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348"/>
                </a:solidFill>
              </a:defRPr>
            </a:pPr>
            <a:r>
              <a:t>✓ Human Validation Gates (keep people in control)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348"/>
                </a:solidFill>
              </a:defRPr>
            </a:pPr>
            <a:r>
              <a:t>✓ 100% Traceability (link tests to requirements)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348"/>
                </a:solidFill>
              </a:defRPr>
            </a:pPr>
            <a:r>
              <a:t>✓ Speed &amp; Scale (design doesn't become bottleneck)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Introducing QE AgentX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FF9500"/>
                </a:solidFill>
              </a:defRPr>
            </a:pPr>
            <a:r>
              <a:t>AI That Understands Quality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solidFill>
            <a:srgbClr val="E6F5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0066CC"/>
                </a:solidFill>
              </a:defRPr>
            </a:pPr>
            <a:r>
              <a:t>8 Specialized AI Agents + 2 Human Validation Gates = Complete Test Suites in 2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1005840" cy="1005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</a:defRPr>
            </a:pPr>
            <a:r>
              <a:t>Requirements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743200"/>
            <a:ext cx="1005840" cy="1005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337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</a:defRPr>
            </a:pPr>
            <a:r>
              <a:t>Scenarios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743200"/>
            <a:ext cx="1005840" cy="1005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8803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37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</a:defRPr>
            </a:pPr>
            <a:r>
              <a:t>Test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743200"/>
            <a:ext cx="1005840" cy="1005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8803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3375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</a:defRPr>
            </a:pPr>
            <a:r>
              <a:t>Test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931920"/>
            <a:ext cx="1005840" cy="1005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26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</a:defRPr>
            </a:pPr>
            <a:r>
              <a:t>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3931920"/>
            <a:ext cx="1005840" cy="1005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526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</a:defRPr>
            </a:pPr>
            <a:r>
              <a:t>Traceability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931920"/>
            <a:ext cx="1005840" cy="1005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526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</a:defRPr>
            </a:pPr>
            <a:r>
              <a:t>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931920"/>
            <a:ext cx="1005840" cy="1005840"/>
          </a:xfrm>
          <a:prstGeom prst="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4069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333333"/>
                </a:solidFill>
              </a:defRPr>
            </a:pPr>
            <a: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5262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333333"/>
                </a:solidFill>
              </a:defRPr>
            </a:pPr>
            <a: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035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DC3545"/>
                </a:solidFill>
              </a:defRPr>
            </a:pPr>
            <a:r>
              <a:t>🚪 HITL Gates: Your team makes strategic decisions at 2 key moments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Process: Feature to Test Suite in 7-12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92024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23160" y="1188720"/>
            <a:ext cx="320040" cy="320040"/>
          </a:xfrm>
          <a:prstGeom prst="rect">
            <a:avLst/>
          </a:prstGeom>
          <a:solidFill>
            <a:srgbClr val="0066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1188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</a:defRPr>
            </a:pPr>
            <a: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Feature</a:t>
            </a:r>
          </a:p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0066CC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371600"/>
            <a:ext cx="192024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188720"/>
            <a:ext cx="320040" cy="320040"/>
          </a:xfrm>
          <a:prstGeom prst="rect">
            <a:avLst/>
          </a:prstGeom>
          <a:solidFill>
            <a:srgbClr val="0066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88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</a:defRPr>
            </a:pPr>
            <a: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Identify</a:t>
            </a:r>
          </a:p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1031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0066CC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371600"/>
            <a:ext cx="192024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1188720"/>
            <a:ext cx="320040" cy="320040"/>
          </a:xfrm>
          <a:prstGeom prst="rect">
            <a:avLst/>
          </a:prstGeom>
          <a:solidFill>
            <a:srgbClr val="0066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188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</a:defRPr>
            </a:pPr>
            <a:r>
              <a:t>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Create</a:t>
            </a:r>
          </a:p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1031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0066CC"/>
                </a:solidFill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371600"/>
            <a:ext cx="1920240" cy="18288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1188720"/>
            <a:ext cx="320040" cy="320040"/>
          </a:xfrm>
          <a:prstGeom prst="rect">
            <a:avLst/>
          </a:prstGeom>
          <a:solidFill>
            <a:srgbClr val="0066C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11887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333333"/>
                </a:solidFill>
              </a:defRPr>
            </a:pPr>
            <a: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331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Your</a:t>
            </a:r>
          </a:p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B348"/>
                </a:solidFill>
              </a:defRPr>
            </a:pPr>
            <a:r>
              <a:t>⏱️  2 min (AI) + 5-10 min (Your Review) = 7-12 min 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DC3545"/>
                </a:solidFill>
              </a:defRPr>
            </a:pPr>
            <a:r>
              <a:t>vs Manual Design: 120 minutes → 7-12 minutes = 10-17× FASTER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Business Impact: Quantified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2011680" cy="2011680"/>
          </a:xfrm>
          <a:prstGeom prst="rect">
            <a:avLst/>
          </a:prstGeom>
          <a:solidFill>
            <a:srgbClr val="F8F9FA"/>
          </a:solidFill>
          <a:ln w="508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DC3545"/>
                </a:solidFill>
              </a:defRPr>
            </a:pPr>
            <a:r>
              <a:t>60×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3333"/>
                </a:solidFill>
              </a:defRPr>
            </a:pPr>
            <a:r>
              <a:t>120m → 2m per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280160"/>
            <a:ext cx="2011680" cy="2011680"/>
          </a:xfrm>
          <a:prstGeom prst="rect">
            <a:avLst/>
          </a:prstGeom>
          <a:solidFill>
            <a:srgbClr val="F8F9FA"/>
          </a:solidFill>
          <a:ln w="50800">
            <a:solidFill>
              <a:srgbClr val="00B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4630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00B348"/>
                </a:solidFill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0574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4231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3333"/>
                </a:solidFill>
              </a:defRPr>
            </a:pPr>
            <a:r>
              <a:t>vs 70% achieved manually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29000"/>
            <a:ext cx="2011680" cy="2011680"/>
          </a:xfrm>
          <a:prstGeom prst="rect">
            <a:avLst/>
          </a:prstGeom>
          <a:solidFill>
            <a:srgbClr val="F8F9FA"/>
          </a:solidFill>
          <a:ln w="508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9500"/>
                </a:solidFill>
              </a:defRPr>
            </a:pPr>
            <a:r>
              <a:t>$360K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Annual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72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3333"/>
                </a:solidFill>
              </a:defRPr>
            </a:pPr>
            <a:r>
              <a:t>per 10-person QA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3429000"/>
            <a:ext cx="2011680" cy="2011680"/>
          </a:xfrm>
          <a:prstGeom prst="rect">
            <a:avLst/>
          </a:prstGeom>
          <a:solidFill>
            <a:srgbClr val="F8F9FA"/>
          </a:solidFill>
          <a:ln w="508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6B3FA0"/>
                </a:solidFill>
              </a:defRPr>
            </a:pPr>
            <a:r>
              <a:t>1.3 yr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206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33333"/>
                </a:solidFill>
              </a:defRPr>
            </a:pPr>
            <a:r>
              <a:t>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5720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3333"/>
                </a:solidFill>
              </a:defRPr>
            </a:pPr>
            <a:r>
              <a:t>Based on labor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0352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66CC"/>
                </a:solidFill>
              </a:defRPr>
            </a:pPr>
            <a:r>
              <a:t>Same team. 60× more capacity. Better quality. Faster releases.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Strategic Alignment: Your Digital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88720"/>
            <a:ext cx="256032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333333"/>
                </a:solidFill>
              </a:defRPr>
            </a:pPr>
            <a: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Digital</a:t>
            </a:r>
          </a:p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Cloud-native, AI-powered,</a:t>
            </a:r>
          </a:p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Modern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188720"/>
            <a:ext cx="256032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00B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333333"/>
                </a:solidFill>
              </a:defRPr>
            </a:pPr>
            <a:r>
              <a:t>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Operational</a:t>
            </a:r>
          </a:p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Automate tedious work,</a:t>
            </a:r>
          </a:p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Focus on strategy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2560320" cy="2743200"/>
          </a:xfrm>
          <a:prstGeom prst="rect">
            <a:avLst/>
          </a:prstGeom>
          <a:solidFill>
            <a:srgbClr val="F0F8FF"/>
          </a:solidFill>
          <a:ln w="381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333333"/>
                </a:solidFill>
              </a:defRPr>
            </a:pPr>
            <a:r>
              <a:t>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Accelerated</a:t>
            </a:r>
          </a:p>
          <a:p>
            <a:pPr algn="ctr">
              <a:defRPr sz="1200" b="1" i="0">
                <a:solidFill>
                  <a:srgbClr val="333333"/>
                </a:solidFill>
              </a:defRPr>
            </a:pPr>
            <a:r>
              <a:t>Time-to-Market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5176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40% faster releases</a:t>
            </a:r>
          </a:p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with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6B3FA0"/>
                </a:solidFill>
              </a:defRPr>
            </a:pPr>
            <a:r>
              <a:t>QE AgentX proves Agentic AI works. Finance, Operations can adopt same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Design Once, Reuse Everywhere: Enterprise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2286000" cy="1645920"/>
          </a:xfrm>
          <a:prstGeom prst="rect">
            <a:avLst/>
          </a:prstGeom>
          <a:solidFill>
            <a:srgbClr val="F8F9FA"/>
          </a:solidFill>
          <a:ln w="38100">
            <a:solidFill>
              <a:srgbClr val="00B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B348"/>
                </a:solidFill>
              </a:defRPr>
            </a:pPr>
            <a:r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</a:defRPr>
            </a:pPr>
            <a:r>
              <a:t>1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B348"/>
                </a:solidFill>
              </a:defRPr>
            </a:pPr>
            <a:r>
              <a:t>60×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371600"/>
            <a:ext cx="2286000" cy="1645920"/>
          </a:xfrm>
          <a:prstGeom prst="rect">
            <a:avLst/>
          </a:prstGeom>
          <a:solidFill>
            <a:srgbClr val="F8F9FA"/>
          </a:solidFill>
          <a:ln w="381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9500"/>
                </a:solidFill>
              </a:defRPr>
            </a:pPr>
            <a: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</a:defRPr>
            </a:pPr>
            <a:r>
              <a:t>3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9500"/>
                </a:solidFill>
              </a:defRPr>
            </a:pPr>
            <a:r>
              <a:t>75×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2286000" cy="1645920"/>
          </a:xfrm>
          <a:prstGeom prst="rect">
            <a:avLst/>
          </a:prstGeom>
          <a:solidFill>
            <a:srgbClr val="F8F9FA"/>
          </a:solidFill>
          <a:ln w="38100">
            <a:solidFill>
              <a:srgbClr val="6B3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B3FA0"/>
                </a:solidFill>
              </a:defRPr>
            </a:pPr>
            <a:r>
              <a:t>Year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333333"/>
                </a:solidFill>
              </a:defRPr>
            </a:pPr>
            <a:r>
              <a:t>8+ Teams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86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6B3FA0"/>
                </a:solidFill>
              </a:defRPr>
            </a:pPr>
            <a:r>
              <a:t>85%+ Reuse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66CC"/>
                </a:solidFill>
              </a:defRPr>
            </a:pPr>
            <a:r>
              <a:t>Reusable Pattern Library: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348"/>
                </a:solidFill>
              </a:defRPr>
            </a:pPr>
            <a:r>
              <a:t>📗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348"/>
                </a:solidFill>
              </a:defRPr>
            </a:pPr>
            <a:r>
              <a:t>📘 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348"/>
                </a:solidFill>
              </a:defRPr>
            </a:pPr>
            <a:r>
              <a:t>📙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B348"/>
                </a:solidFill>
              </a:defRPr>
            </a:pPr>
            <a:r>
              <a:t>📕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348"/>
                </a:solidFill>
              </a:defRPr>
            </a:pPr>
            <a:r>
              <a:t>ROI compounds with adoption: Year 1 pays for itself, Year 2-3 multiplies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Proven Results: Real Customers, Real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188720"/>
            <a:ext cx="2560320" cy="2926080"/>
          </a:xfrm>
          <a:prstGeom prst="rect">
            <a:avLst/>
          </a:prstGeom>
          <a:solidFill>
            <a:srgbClr val="F8F9FA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66CC"/>
                </a:solidFill>
              </a:defRPr>
            </a:pPr>
            <a:r>
              <a:t>Financial</a:t>
            </a:r>
          </a:p>
          <a:p>
            <a:pPr algn="ctr">
              <a:defRPr sz="1200" b="1" i="0">
                <a:solidFill>
                  <a:srgbClr val="0066CC"/>
                </a:solidFill>
              </a:defRPr>
            </a:pPr>
            <a: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40h → 6h/sprint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72% → 91%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$180K saved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1188720"/>
            <a:ext cx="2560320" cy="2926080"/>
          </a:xfrm>
          <a:prstGeom prst="rect">
            <a:avLst/>
          </a:prstGeom>
          <a:solidFill>
            <a:srgbClr val="F8F9FA"/>
          </a:solidFill>
          <a:ln w="38100">
            <a:solidFill>
              <a:srgbClr val="00B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00B348"/>
                </a:solidFill>
              </a:defRPr>
            </a:pPr>
            <a:r>
              <a:t>SaaS</a:t>
            </a:r>
          </a:p>
          <a:p>
            <a:pPr algn="ctr">
              <a:defRPr sz="1200" b="1" i="0">
                <a:solidFill>
                  <a:srgbClr val="00B348"/>
                </a:solidFill>
              </a:defRPr>
            </a:pPr>
            <a: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4 QA engineers freed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40% faster launches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$280K saved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2560320" cy="2926080"/>
          </a:xfrm>
          <a:prstGeom prst="rect">
            <a:avLst/>
          </a:prstGeom>
          <a:solidFill>
            <a:srgbClr val="F8F9FA"/>
          </a:solidFill>
          <a:ln w="3810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9500"/>
                </a:solidFill>
              </a:defRPr>
            </a:pPr>
            <a:r>
              <a:t>Enterprise</a:t>
            </a:r>
          </a:p>
          <a:p>
            <a:pPr algn="ctr">
              <a:defRPr sz="1200" b="1" i="0">
                <a:solidFill>
                  <a:srgbClr val="FF9500"/>
                </a:solidFill>
              </a:defRPr>
            </a:pPr>
            <a:r>
              <a:t>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4w → 4d audits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100% RTM 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333333"/>
                </a:solidFill>
              </a:defRPr>
            </a:pPr>
            <a:r>
              <a:t>Risk ↓ Confidence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333333"/>
                </a:solidFill>
              </a:defRPr>
            </a:pPr>
            <a:r>
              <a:t>Common pattern: Teams don't just save money. They become faster, more agile, more confident.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B348"/>
          </a:solidFill>
          <a:ln>
            <a:solidFill>
              <a:srgbClr val="00B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Future Starts Now: 90-Day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</a:defRPr>
            </a:pPr>
            <a:r>
              <a:t>Phase 1 (Today): Design Tests  →  Phase 2 (6mo): Run Tests  →  Phase 3 (12mo): Optimize  →  Phase 4 (2028): Full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920240"/>
            <a:ext cx="6400800" cy="914400"/>
          </a:xfrm>
          <a:prstGeom prst="rect">
            <a:avLst/>
          </a:prstGeom>
          <a:solidFill>
            <a:srgbClr val="E6FFF0"/>
          </a:solidFill>
          <a:ln w="25400">
            <a:solidFill>
              <a:srgbClr val="00B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B348"/>
                </a:solidFill>
              </a:defRPr>
            </a:pPr>
            <a:r>
              <a:t>By 2028: Organizations using Agentic QA will ship 3× faster with 2× fewer quality escapes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DC3545"/>
                </a:solidFill>
              </a:defRPr>
            </a:pPr>
            <a:r>
              <a:t>THE ASK: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11880"/>
            <a:ext cx="6400800" cy="1463040"/>
          </a:xfrm>
          <a:prstGeom prst="rect">
            <a:avLst/>
          </a:prstGeom>
          <a:solidFill>
            <a:srgbClr val="FFFAF0"/>
          </a:solidFill>
          <a:ln w="38100">
            <a:solidFill>
              <a:srgbClr val="00B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749039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066CC"/>
                </a:solidFill>
              </a:defRPr>
            </a:pPr>
            <a:r>
              <a:t>Pick 1 Product Line</a:t>
            </a:r>
          </a:p>
          <a:p>
            <a:pPr algn="ctr">
              <a:defRPr sz="1300" b="1" i="0">
                <a:solidFill>
                  <a:srgbClr val="0066CC"/>
                </a:solidFill>
              </a:defRPr>
            </a:pPr>
            <a:r>
              <a:t>90-Day Pilot</a:t>
            </a:r>
          </a:p>
          <a:p>
            <a:pPr algn="ctr">
              <a:defRPr sz="1300" b="1" i="0">
                <a:solidFill>
                  <a:srgbClr val="0066CC"/>
                </a:solidFill>
              </a:defRPr>
            </a:pPr>
            <a:r>
              <a:t>Measure: Speed, Quality, Cost</a:t>
            </a:r>
          </a:p>
          <a:p>
            <a:pPr algn="ctr">
              <a:defRPr sz="1300" b="1" i="0">
                <a:solidFill>
                  <a:srgbClr val="0066CC"/>
                </a:solidFill>
              </a:defRPr>
            </a:pPr>
            <a:r>
              <a:t>→ Then Scale to Your 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333333"/>
                </a:solidFill>
              </a:defRPr>
            </a:pPr>
            <a:r>
              <a:t>You'll see what these customers are already seeing.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093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DC3545"/>
                </a:solidFill>
              </a:defRPr>
            </a:pPr>
            <a:r>
              <a:t>Ready to lead the AI transformation in QA?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836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C8C8C8"/>
                </a:solidFill>
              </a:defRPr>
            </a:pPr>
            <a:r>
              <a:t>QE AgentX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