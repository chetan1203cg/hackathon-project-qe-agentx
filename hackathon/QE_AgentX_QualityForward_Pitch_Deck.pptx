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judge's first impression. FROM Clarify: your one-line promise is your POV turned outward. MODEL ANSWER (AutoTriage): Track = Autonomous QE for operations; Name = 'AutoTriage'; Promise = 'Autonomous failure triage that cuts QE analysis time 70%'; Team = your names + Idea. Tip: memorable name AND a number in the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Clarify (persona, POV, journey, explicit/latent needs) — put a number on the pain. MODEL ANSWER (AutoTriage): User = QA lead on an enterprise delivery; Job = ship green releases on time; Pain = 2–3 hrs every morning triaging flaky-vs-real failures; Frequency = nightly; Cost = ~10 hrs/week per lead + escaped defects damage trust; POV = 'A QA lead needs to trust overnight results fast because manual triage can't keep the release cadence and misses real defects.'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Ideate (design principles, SIT tools, agent design). Make the AI's job explicit. MODEL ANSWER (AutoTriage): Solution = 'After the nightly run, AutoTriage reads logs/traces/screenshots and files clean defects.' Hard reasoning = root-causing novel failures from free-text logs (rules can't). Agents = classifier → root-cause → critic → Jira-writer. Human-in-the-loop = approves before a ticket is closed. Diagram = logs/traces/screenshots → [classify][root-cause][critic] → drafted Jira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Develop (prototype — show, don't tell). MODEL ANSWER (AutoTriage): run it on last week's real failures; screen = the triage 'report card' (failure class, confidence score, evidence, drafted Jira). Steps: 1 QA opens the morning digest; 2 agent shows classification + root cause + evidence; 3 one click files the Jira. Built today = classifier + root-cause; mocked = the auto-file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Develop (baseline → target). MODEL ANSWER (AutoTriage): Manual failure-analysis time 3 days/release → &lt;1 day (–70%); Bug-reporting effort → –80%; Escaped defects → –30%. Measured over a 2-week single-squad pilot; assumption ≈ 60 failures/night with ~60% flaky. Tie each number to the pain you quantified on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Ideate (10x test, AI-essential) + Develop (critical questions). MODEL ANSWER (AutoTriage): Difference = 'Others generate tests; we automate the costliest phase — post-run failure analysis — with a generator + critic agent pair.' AI essential = root-causing novel failures from free text. Responsible AI: risk = a hallucinated root cause files the wrong defect; guardrail = confidence threshold + human approval before close; validation = weekly review of the agent's misses; data = can run self-hosted for regulated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Develop (MVP, stack) + Implement (reuse). MODEL ANSWER (AutoTriage): MVP = classify + root-cause one squad's nightly failures and DRAFT (not auto-file) tickets, in 2 weeks. Stack = Python, an LLM + CrewAI-style orchestration, Jira &amp; CI APIs, the existing log/artifact store. Reuse = any squad or account. v2 = auto-file + flaky auto-retry + sibling security/accessibility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Implement (stakeholder analysis, the ask). MODEL ANSWER (AutoTriage): Ask = '4 weeks of a squad's execution history + a Jira sandbox; decision: sponsor a 2-week pilot.' Team = names, roles/skills, unit. Close by repeating the promise — cut triage 70%. Tie the ask to the stakeholder you most need (the delivery manager who sponsors the pilot).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937">
              <a:alpha val="7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 sz="1100" b="1"/>
            </a:pPr>
            <a:r>
              <a:t>TRACK: Autonomous QE for Operations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 sz="3000" b="1"/>
            </a:pPr>
            <a:r>
              <a:t>QE AgentX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pPr>
            <a:r>
              <a:t>AI-native Quality Engineering Control Tower for faster, traceable, explainable release decisions.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t>VW QE AgentX | Chetan Raut |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1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7AB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1 · PROBLEM &amp; USER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937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The problem — and who feels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FF6E0"/>
          </a:solidFill>
          <a:ln w="12700">
            <a:solidFill>
              <a:srgbClr val="FEB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2435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100" kern="0" dirty="0">
                <a:solidFill>
                  <a:srgbClr val="0057AB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◀ FROM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11937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Clarify → POV, persona, journey    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6B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WHAT TO WRITE: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522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Name a specific user (a role, not “the client”) and quantify the pain today. Scores: Importance.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58384" cy="370332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221992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57AB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THE USER &amp; PAIN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8554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500"/>
            </a:pPr>
            <a:r>
              <a:t>Release Manager and QA Lead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500"/>
            </a:pPr>
            <a:r>
              <a:t>Turn Jira stories, test evidence, and defects into a trusted release decision.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/>
            </a:pPr>
            <a:r>
              <a:t>Today: manual RTM, coverage analysis, and release reporting every sprint.</a:t>
            </a:r>
          </a:p>
        </p:txBody>
      </p:sp>
      <p:sp>
        <p:nvSpPr>
          <p:cNvPr id="9" name="Shape 7"/>
          <p:cNvSpPr/>
          <p:nvPr/>
        </p:nvSpPr>
        <p:spPr>
          <a:xfrm>
            <a:off x="6190488" y="2057400"/>
            <a:ext cx="5358384" cy="370332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221992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B6F3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2606040"/>
            <a:ext cx="48554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500"/>
            </a:pPr>
            <a:r>
              <a:t>8-12 hours of QA reporting, traceability, and release governance per release cycle.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500"/>
            </a:pPr>
            <a:r>
              <a:t>Disconnected Jira, Excel, Confluence, emails, and evidence repositories create gaps and duplicate work.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/>
            </a:pPr>
            <a:r>
              <a:t>POV: QA leads need one reliable quality view because scattered evidence delays confident Go/No-Go decisions.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2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B6F3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2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937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What it is &amp; how the AI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FF6E0"/>
          </a:solidFill>
          <a:ln w="12700">
            <a:solidFill>
              <a:srgbClr val="FEB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2435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100" kern="0" dirty="0">
                <a:solidFill>
                  <a:srgbClr val="1DB6F3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◀ FROM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11937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Ideate → design principles, SIT, agent design    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6B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WHAT TO WRITE: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522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Explain the solution and make the AI's job explicit. Scores: Innovation, Strategic alignment.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4937760" cy="370332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221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B6F3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434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300"/>
            </a:pPr>
            <a:r>
              <a:t>QE AgentX is a Test Asset Intelligence Platform that connects requirements, testing, execution, defects, and release governance.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AI interprets requirements and acceptance criteria, generates test assets, maintains traceability, detects quality risks, and explains a release recommendation.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Specialized agents: Requirement Intelligence, Test Design, Traceability, Knowledge, Test Debt, Automation, Sprint Analytics, and Release Readiness.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Human review approves critical test assets and release decisions.</a:t>
            </a:r>
          </a:p>
        </p:txBody>
      </p:sp>
      <p:sp>
        <p:nvSpPr>
          <p:cNvPr id="9" name="Shape 7"/>
          <p:cNvSpPr/>
          <p:nvPr/>
        </p:nvSpPr>
        <p:spPr>
          <a:xfrm>
            <a:off x="5760720" y="2057400"/>
            <a:ext cx="5788152" cy="3703320"/>
          </a:xfrm>
          <a:prstGeom prst="roundRect">
            <a:avLst>
              <a:gd name="adj" fmla="val 2222"/>
            </a:avLst>
          </a:prstGeom>
          <a:solidFill>
            <a:srgbClr val="EAF4FB"/>
          </a:solidFill>
          <a:ln w="15875">
            <a:solidFill>
              <a:srgbClr val="1DB6F3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03504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spcBef>
                <a:spcPts val="0"/>
              </a:spcBef>
              <a:spcAft>
                <a:spcPts val="300"/>
              </a:spcAft>
              <a:buNone/>
              <a:defRPr sz="1500"/>
            </a:pPr>
            <a:r>
              <a:t>Jira Story + Acceptance Criteria + Execution Evidence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300"/>
              </a:spcAft>
              <a:defRPr sz="1500"/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/>
            </a:pPr>
            <a:r>
              <a:t>Requirement Intelligence → Test Design → RTM &amp; Knowledge Store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/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/>
            </a:pPr>
            <a:r>
              <a:t>Execution &amp; Defect Intelligence → Sprint Analytics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/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500"/>
            </a:pPr>
            <a:r>
              <a:t>Explainable GO / GO WITH RISKS / NO-GO</a:t>
            </a:r>
          </a:p>
        </p:txBody>
      </p:sp>
      <p:sp>
        <p:nvSpPr>
          <p:cNvPr id="11" name="Text 9"/>
          <p:cNvSpPr/>
          <p:nvPr/>
        </p:nvSpPr>
        <p:spPr>
          <a:xfrm>
            <a:off x="6035040" y="32004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Inputs become traceable test assets, quality insights, and a governed release recommendation.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3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5D0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3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937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Show it working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FF6E0"/>
          </a:solidFill>
          <a:ln w="12700">
            <a:solidFill>
              <a:srgbClr val="FEB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2435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100" kern="0" dirty="0">
                <a:solidFill>
                  <a:srgbClr val="00D5D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◀ FROM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11937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Develop → prototype / MVP    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6B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WHAT TO WRITE: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522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One screen, prototype, or flow that proves it's real. Scores: Feasibility, quality &amp; deliverables.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00" cy="3703320"/>
          </a:xfrm>
          <a:prstGeom prst="roundRect">
            <a:avLst>
              <a:gd name="adj" fmla="val 2222"/>
            </a:avLst>
          </a:prstGeom>
          <a:solidFill>
            <a:srgbClr val="E7FBFA"/>
          </a:solidFill>
          <a:ln w="15875">
            <a:solidFill>
              <a:srgbClr val="00D5D0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286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spcBef>
                <a:spcPts val="0"/>
              </a:spcBef>
              <a:spcAft>
                <a:spcPts val="300"/>
              </a:spcAft>
              <a:buNone/>
              <a:defRPr sz="1700"/>
            </a:pPr>
            <a:r>
              <a:t>LIVE MVP DEMO</a:t>
            </a:r>
            <a:endParaRPr lang="en-US" sz="1300" dirty="0"/>
          </a:p>
          <a:p>
            <a:pPr algn="ctr">
              <a:spcBef>
                <a:spcPts val="0"/>
              </a:spcBef>
              <a:spcAft>
                <a:spcPts val="300"/>
              </a:spcAft>
              <a:defRPr sz="1700"/>
            </a:pPr>
          </a:p>
          <a:p>
            <a:pPr algn="ctr">
              <a:spcBef>
                <a:spcPts val="0"/>
              </a:spcBef>
              <a:spcAft>
                <a:spcPts val="300"/>
              </a:spcAft>
              <a:defRPr sz="1700"/>
            </a:pPr>
            <a:r>
              <a:t>1. Select a Jira story and its acceptance criteria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700"/>
            </a:pPr>
            <a:r>
              <a:t>2. Review generated scenarios, test cases, and RTM links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700"/>
            </a:pPr>
            <a:r>
              <a:t>3. Load execution results and defect evidence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700"/>
            </a:pPr>
            <a:r>
              <a:t>4. View coverage, risks, and the release-readiness recommendation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8A94A3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Drop a real screen or a 3–4 step walkthrough. If early-stage, a clickable mock or annotated wireframe is fine.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2057400"/>
            <a:ext cx="3410712" cy="3703320"/>
          </a:xfrm>
          <a:prstGeom prst="roundRect">
            <a:avLst>
              <a:gd name="adj" fmla="val 2413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94192" y="222199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D5D0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WALKTHROUGH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2606040"/>
            <a:ext cx="290779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400"/>
            </a:pPr>
            <a:r>
              <a:t>Step 1 - QA lead selects a Jira requirement.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Step 2 - QE AgentX builds tests, RTM links, and coverage evidence.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Step 3 - Execution and defect signals produce an explainable release view.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Built for MVP: story ingestion, test generation, RTM, dashboard, and recommendation.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4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  <a:defRPr sz="2600" b="1"/>
            </a:pPr>
            <a:r>
              <a:t>8-12 hrs</a:t>
            </a:r>
            <a:endParaRPr lang="en-US" sz="1100" dirty="0"/>
          </a:p>
          <a:p>
            <a:pPr algn="ctr">
              <a:defRPr sz="1100"/>
            </a:pPr>
            <a:r>
              <a:t>Manual reporting, RTM, and release governance today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  <a:defRPr sz="2600" b="1"/>
            </a:pPr>
            <a:r>
              <a:t>1-2 hrs</a:t>
            </a:r>
            <a:endParaRPr lang="en-US" sz="2500" dirty="0"/>
          </a:p>
          <a:p>
            <a:pPr algn="ctr">
              <a:defRPr sz="1100"/>
            </a:pPr>
            <a:r>
              <a:t>Target effort with AI-driven automation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FF6E0"/>
          </a:solidFill>
          <a:ln w="12700">
            <a:solidFill>
              <a:srgbClr val="FEB100"/>
            </a:solidFill>
            <a:prstDash val="solid"/>
          </a:ln>
        </p:spPr>
        <p:txBody>
          <a:bodyPr anchor="ctr"/>
          <a:p>
            <a:pPr algn="ctr">
              <a:defRPr sz="2600" b="1"/>
            </a:pPr>
            <a:r>
              <a:t>&gt;90%</a:t>
            </a:r>
          </a:p>
          <a:p>
            <a:pPr algn="ctr">
              <a:defRPr sz="1100"/>
            </a:pPr>
            <a:r>
              <a:t>Target reduction in manual governance effort</a:t>
            </a:r>
          </a:p>
        </p:txBody>
      </p:sp>
      <p:sp>
        <p:nvSpPr>
          <p:cNvPr id="5" name="Text 3"/>
          <p:cNvSpPr/>
          <p:nvPr/>
        </p:nvSpPr>
        <p:spPr>
          <a:xfrm>
            <a:off x="868680" y="12435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100" kern="0" dirty="0">
                <a:solidFill>
                  <a:srgbClr val="0057AB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◀ FROM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11937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Develop → baseline → target metric    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6B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WHAT TO WRITE: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522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Baseline → target for each benefit. Scores: Client &amp; business impact, ODE.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914400"/>
        </p:xfrm>
        <a:graphic>
          <a:graphicData uri="http://schemas.openxmlformats.org/drawingml/2006/table">
            <a:tbl>
              <a:tblPr/>
              <a:tblGrid>
                <a:gridCol w="3639312"/>
                <a:gridCol w="3630168"/>
                <a:gridCol w="36393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Ubuntu Medium" pitchFamily="34" charset="0"/>
                          <a:ea typeface="Ubuntu Medium" pitchFamily="34" charset="-122"/>
                          <a:cs typeface="Ubuntu Medium" pitchFamily="34" charset="-120"/>
                        </a:rPr>
                        <a:t>Metric</a:t>
                      </a:r>
                      <a:endParaRPr lang="en-US" sz="1400" dirty="0">
                        <a:latin typeface="Ubuntu Medium" charset="0"/>
                        <a:ea typeface="Ubuntu Medium" charset="0"/>
                        <a:cs typeface="Ubuntu Medium" charset="0"/>
                      </a:endParaRPr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Ubuntu Medium" pitchFamily="34" charset="0"/>
                          <a:ea typeface="Ubuntu Medium" pitchFamily="34" charset="-122"/>
                          <a:cs typeface="Ubuntu Medium" pitchFamily="34" charset="-120"/>
                        </a:rPr>
                        <a:t>Today (baseline)</a:t>
                      </a:r>
                      <a:endParaRPr lang="en-US" sz="1400" dirty="0">
                        <a:latin typeface="Ubuntu Medium" charset="0"/>
                        <a:ea typeface="Ubuntu Medium" charset="0"/>
                        <a:cs typeface="Ubuntu Medium" charset="0"/>
                      </a:endParaRPr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Ubuntu Medium" pitchFamily="34" charset="0"/>
                          <a:ea typeface="Ubuntu Medium" pitchFamily="34" charset="-122"/>
                          <a:cs typeface="Ubuntu Medium" pitchFamily="34" charset="-120"/>
                        </a:rPr>
                        <a:t>With your solution (target)</a:t>
                      </a:r>
                      <a:endParaRPr lang="en-US" sz="1400" dirty="0">
                        <a:latin typeface="Ubuntu Medium" charset="0"/>
                        <a:ea typeface="Ubuntu Medium" charset="0"/>
                        <a:cs typeface="Ubuntu Medium" charset="0"/>
                      </a:endParaRPr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e.g. Manual failure-analysis time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e.g. 3 days / release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e.g. &lt; 1 day (–70%)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[ metric 2 ]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[ … ]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[ … ]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[ metric 3 ]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[ … ]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94A3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[ … ]</a:t>
                      </a:r>
                      <a:endParaRPr lang="en-US" sz="13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01600" marR="101600" marT="101600" marB="1016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0292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E7F6EF"/>
          </a:solidFill>
          <a:ln w="12700">
            <a:solidFill>
              <a:srgbClr val="1F9D7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50292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 sz="1300"/>
            </a:pPr>
            <a:pPr indent="0" marL="0">
              <a:buNone/>
            </a:pPr>
            <a:r>
              <a:t>Measured per release cycle: baseline manual QA governance effort versus the time to generate traceability, quality insights, and a recommendation. Target is validated in a controlled MVP pilot.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5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16E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5 · DIFFERENTIATION &amp; RESPONSIBLE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937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Why it's 10x — and safe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FF6E0"/>
          </a:solidFill>
          <a:ln w="12700">
            <a:solidFill>
              <a:srgbClr val="FEB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2435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100" kern="0" dirty="0">
                <a:solidFill>
                  <a:srgbClr val="FF816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◀ FROM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11937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Ideate → 10x, AI-essential · Develop → critical Qs    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6B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WHAT TO WRITE: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522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Show the mechanism that's different, and that you've thought about AI risk. Scores: Innovation &amp; responsible AI.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58384" cy="370332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221992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16E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8554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400"/>
            </a:pPr>
            <a:r>
              <a:t>Point tools generate tests or store evidence; manual RTMs and release assessments remain disconnected.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QE AgentX links Story → Acceptance Criteria → Test Case → Execution → Defect in one quality-intelligence loop.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AI is essential because it synthesizes dispersed evidence, finds coverage and reuse gaps, and explains the decision.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Reusable across Jira-based Agile teams without requiring a full test-management-system rollout.</a:t>
            </a:r>
          </a:p>
        </p:txBody>
      </p:sp>
      <p:sp>
        <p:nvSpPr>
          <p:cNvPr id="9" name="Shape 7"/>
          <p:cNvSpPr/>
          <p:nvPr/>
        </p:nvSpPr>
        <p:spPr>
          <a:xfrm>
            <a:off x="6190488" y="2057400"/>
            <a:ext cx="5358384" cy="370332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221992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9D7A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2606040"/>
            <a:ext cx="48554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400"/>
            </a:pPr>
            <a:r>
              <a:t>Risk: inaccurate generated assets, unsupported conclusions, and sensitive delivery data.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Guardrails: human approval for critical outputs; source-linked evidence; deterministic rule thresholds; role-based access; local demo data.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Validation: review generated cases and RTM links against acceptance criteria; reconcile decision inputs with execution and defect records.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/>
            </a:pPr>
            <a:r>
              <a:t>Release recommendation is decision support, never an autonomous production sign-off.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6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7AB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6 · FEASIBILITY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937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How you'll build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FF6E0"/>
          </a:solidFill>
          <a:ln w="12700">
            <a:solidFill>
              <a:srgbClr val="FEB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2435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100" kern="0" dirty="0">
                <a:solidFill>
                  <a:srgbClr val="0057AB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◀ FROM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11937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Develop → MVP, stack · Implement → reuse     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6B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WHAT TO WRITE: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522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 credible MVP and a path beyond it. Scores: Feasibility, Reusability &amp; portfolio fit.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502152" cy="3703320"/>
          </a:xfrm>
          <a:prstGeom prst="roundRect">
            <a:avLst>
              <a:gd name="adj" fmla="val 2350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57AB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MVP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9992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300"/>
            </a:pPr>
            <a:r>
              <a:t>MVP: Jira story → test scenarios/test cases → RTM → coverage and execution view → explainable release recommendation.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Demo uses sample Jira stories, acceptance criteria, manual/automation results, and defects.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Dependencies: Jira API access and representative QE data.</a:t>
            </a:r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502152" cy="3703320"/>
          </a:xfrm>
          <a:prstGeom prst="roundRect">
            <a:avLst>
              <a:gd name="adj" fmla="val 2350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B6F3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TECH STACK &amp;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29992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300"/>
            </a:pPr>
            <a:r>
              <a:t>Python, FastAPI, SQLite, Streamlit, Jira APIs, VS Code, GitHub Copilot.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AI: GitHub Copilot Chat and Microsoft Copilot; Azure OpenAI or enterprise AI service for MVP validation.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Data: Jira stories, acceptance criteria, sprint/release metadata, execution results, and defects.</a:t>
            </a:r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502152" cy="3703320"/>
          </a:xfrm>
          <a:prstGeom prst="roundRect">
            <a:avLst>
              <a:gd name="adj" fmla="val 2350"/>
            </a:avLst>
          </a:prstGeom>
          <a:solidFill>
            <a:srgbClr val="F5F8FB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38100" dir="2700000">
              <a:srgbClr val="111937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02752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D5D0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EFFORT &amp; REUSE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606040"/>
            <a:ext cx="29992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300"/>
            </a:pPr>
            <a:r>
              <a:t>Hackathon MVP: Chetan Raut / VW QE AgentX.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Pilot: validate two sprints with KPI tracking for cycle time, traceability completeness, coverage confidence, and defect leakage.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/>
            </a:pPr>
            <a:r>
              <a:t>V2: connectors, reusable test-asset intelligence, predictive risk signals, and broader team rollout.</a:t>
            </a:r>
          </a:p>
        </p:txBody>
      </p:sp>
      <p:sp>
        <p:nvSpPr>
          <p:cNvPr id="15" name="Text 13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7 of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EB1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EB100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8 · 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What we need — and who we 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58384" cy="3108960"/>
          </a:xfrm>
          <a:prstGeom prst="roundRect">
            <a:avLst>
              <a:gd name="adj" fmla="val 2941"/>
            </a:avLst>
          </a:prstGeom>
          <a:solidFill>
            <a:srgbClr val="1B2547"/>
          </a:solidFill>
          <a:ln w="15875">
            <a:solidFill>
              <a:srgbClr val="FEB1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EB100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THE 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500"/>
            </a:pPr>
            <a:r>
              <a:t>Jira API and sample QE-data access; Azure OpenAI or enterprise AI experimentation access; and mentoring on agentic architecture, RTM governance, KPI design, and demo storytelling.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300"/>
              </a:spcAft>
              <a:defRPr sz="1500"/>
            </a:pPr>
            <a:r>
              <a:t>Decision requested: support a controlled two-sprint MVP pilot.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/>
            </a:pPr>
            <a:r>
              <a:t>Next step: validate the measurable effort reduction and release-confidence outcomes with real delivery data.</a:t>
            </a:r>
          </a:p>
        </p:txBody>
      </p:sp>
      <p:sp>
        <p:nvSpPr>
          <p:cNvPr id="8" name="Shape 6"/>
          <p:cNvSpPr/>
          <p:nvPr/>
        </p:nvSpPr>
        <p:spPr>
          <a:xfrm>
            <a:off x="6190488" y="1828800"/>
            <a:ext cx="5358384" cy="3108960"/>
          </a:xfrm>
          <a:prstGeom prst="roundRect">
            <a:avLst>
              <a:gd name="adj" fmla="val 2941"/>
            </a:avLst>
          </a:prstGeom>
          <a:solidFill>
            <a:srgbClr val="1B2547"/>
          </a:solidFill>
          <a:ln w="15875">
            <a:solidFill>
              <a:srgbClr val="00D5D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10528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D5D0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THE TEAM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6248" y="2468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Bef>
                <a:spcPts val="0"/>
              </a:spcBef>
              <a:spcAft>
                <a:spcPts val="300"/>
              </a:spcAft>
              <a:buSzPct val="100000"/>
              <a:buChar char="•"/>
              <a:defRPr sz="1700"/>
            </a:pPr>
            <a:r>
              <a:t>VW QE AgentX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300"/>
              </a:spcAft>
              <a:defRPr sz="1700"/>
            </a:pPr>
            <a:r>
              <a:t>Lead: Chetan Raut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700"/>
            </a:pPr>
            <a:r>
              <a:t>Capgemini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700"/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700"/>
            </a:pPr>
            <a:r>
              <a:t>AI-native quality intelligence for confident releases.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D5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QE AgentX turns scattered quality evidence into traceable test intelligence and explainable release decisions.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QualityForward AI Hackathon — pitch template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Slide 8 of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QualityForward Pitch Deck Template</dc:title>
  <dc:subject>PptxGenJS Presentation</dc:subject>
  <dc:creator>QualityForward</dc:creator>
  <cp:lastModifiedBy>QualityForward</cp:lastModifiedBy>
  <cp:revision>1</cp:revision>
  <dcterms:created xsi:type="dcterms:W3CDTF">2026-07-19T17:20:30Z</dcterms:created>
  <dcterms:modified xsi:type="dcterms:W3CDTF">2026-07-19T17:20:30Z</dcterms:modified>
</cp:coreProperties>
</file>